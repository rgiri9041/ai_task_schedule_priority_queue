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4"/>
  </p:notesMasterIdLst>
  <p:sldIdLst>
    <p:sldId id="256" r:id="rId3"/>
  </p:sldIdLst>
  <p:sldSz cx="43891200" cy="32918400"/>
  <p:notesSz cx="6858000" cy="9144000"/>
  <p:embeddedFontLst>
    <p:embeddedFont>
      <p:font typeface="Arial Black" panose="020B0A04020102020204" pitchFamily="34" charset="0"/>
      <p:bold r:id="rId5"/>
    </p:embeddedFont>
    <p:embeddedFont>
      <p:font typeface="Garamond" panose="02020404030301010803" pitchFamily="18" charset="0"/>
      <p:regular r:id="rId6"/>
      <p:bold r:id="rId7"/>
      <p:italic r:id="rId8"/>
    </p:embeddedFont>
    <p:embeddedFont>
      <p:font typeface="Helvetica Neue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6s/6j4kNOWpoJDMPdlVG1TC5k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6" d="100"/>
          <a:sy n="46" d="100"/>
        </p:scale>
        <p:origin x="29" y="-4862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customschemas.google.com/relationships/presentationmetadata" Target="metadata"/><Relationship Id="rId2" Type="http://schemas.openxmlformats.org/officeDocument/2006/relationships/slideMaster" Target="slideMasters/slideMaster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 Kumar Giri" userId="5a6d30a4971b3479" providerId="LiveId" clId="{6818CD3E-EC75-456D-92BD-D5F72A539070}"/>
    <pc:docChg chg="modSld">
      <pc:chgData name="Raj Kumar Giri" userId="5a6d30a4971b3479" providerId="LiveId" clId="{6818CD3E-EC75-456D-92BD-D5F72A539070}" dt="2026-10-28T22:48:58.955" v="81" actId="1038"/>
      <pc:docMkLst>
        <pc:docMk/>
      </pc:docMkLst>
      <pc:sldChg chg="modSp mod">
        <pc:chgData name="Raj Kumar Giri" userId="5a6d30a4971b3479" providerId="LiveId" clId="{6818CD3E-EC75-456D-92BD-D5F72A539070}" dt="2026-10-28T22:48:58.955" v="81" actId="1038"/>
        <pc:sldMkLst>
          <pc:docMk/>
          <pc:sldMk cId="0" sldId="256"/>
        </pc:sldMkLst>
        <pc:spChg chg="mod">
          <ac:chgData name="Raj Kumar Giri" userId="5a6d30a4971b3479" providerId="LiveId" clId="{6818CD3E-EC75-456D-92BD-D5F72A539070}" dt="2026-10-28T22:48:22.862" v="4" actId="20577"/>
          <ac:spMkLst>
            <pc:docMk/>
            <pc:sldMk cId="0" sldId="256"/>
            <ac:spMk id="76" creationId="{00000000-0000-0000-0000-000000000000}"/>
          </ac:spMkLst>
        </pc:spChg>
        <pc:spChg chg="mod">
          <ac:chgData name="Raj Kumar Giri" userId="5a6d30a4971b3479" providerId="LiveId" clId="{6818CD3E-EC75-456D-92BD-D5F72A539070}" dt="2026-10-28T22:48:32.060" v="40" actId="1035"/>
          <ac:spMkLst>
            <pc:docMk/>
            <pc:sldMk cId="0" sldId="256"/>
            <ac:spMk id="116" creationId="{00000000-0000-0000-0000-000000000000}"/>
          </ac:spMkLst>
        </pc:spChg>
        <pc:picChg chg="mod">
          <ac:chgData name="Raj Kumar Giri" userId="5a6d30a4971b3479" providerId="LiveId" clId="{6818CD3E-EC75-456D-92BD-D5F72A539070}" dt="2026-10-28T22:48:58.955" v="81" actId="1038"/>
          <ac:picMkLst>
            <pc:docMk/>
            <pc:sldMk cId="0" sldId="256"/>
            <ac:picMk id="25" creationId="{1FF5ACA9-F431-6821-83EC-A3BE80C7DC7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8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8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8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8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8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Google Shape;7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43891200" cy="5255100"/>
          </a:xfrm>
          <a:prstGeom prst="rect">
            <a:avLst/>
          </a:prstGeom>
          <a:solidFill>
            <a:srgbClr val="A64D7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0" y="5255100"/>
            <a:ext cx="43891200" cy="27663300"/>
          </a:xfrm>
          <a:prstGeom prst="rect">
            <a:avLst/>
          </a:prstGeom>
          <a:solidFill>
            <a:srgbClr val="D5A6B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90150" y="5638800"/>
            <a:ext cx="9974400" cy="2656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1488163" y="5638800"/>
            <a:ext cx="9974400" cy="2656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2285938" y="5638800"/>
            <a:ext cx="9974400" cy="2656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3063813" y="5638800"/>
            <a:ext cx="9974400" cy="2656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3292475" y="10226675"/>
            <a:ext cx="37306250" cy="705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6583363" y="18653125"/>
            <a:ext cx="30724475" cy="841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960438" y="0"/>
            <a:ext cx="41924287" cy="4748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693738" y="5638800"/>
            <a:ext cx="42190987" cy="27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467100" y="21153438"/>
            <a:ext cx="37307838" cy="653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3467100" y="13952538"/>
            <a:ext cx="37307838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960438" y="0"/>
            <a:ext cx="41924287" cy="4748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693738" y="5638800"/>
            <a:ext cx="21018500" cy="27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»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2"/>
          </p:nvPr>
        </p:nvSpPr>
        <p:spPr>
          <a:xfrm>
            <a:off x="21864638" y="5638800"/>
            <a:ext cx="21020087" cy="27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»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193925" y="1317625"/>
            <a:ext cx="3950335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2193925" y="7369175"/>
            <a:ext cx="19392900" cy="307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2193925" y="10439400"/>
            <a:ext cx="19392900" cy="18965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3"/>
          </p:nvPr>
        </p:nvSpPr>
        <p:spPr>
          <a:xfrm>
            <a:off x="22296438" y="7369175"/>
            <a:ext cx="19400837" cy="307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4"/>
          </p:nvPr>
        </p:nvSpPr>
        <p:spPr>
          <a:xfrm>
            <a:off x="22296438" y="10439400"/>
            <a:ext cx="19400837" cy="18965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960438" y="0"/>
            <a:ext cx="41924287" cy="4748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2193925" y="1311275"/>
            <a:ext cx="14439900" cy="557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17160875" y="1311275"/>
            <a:ext cx="24536400" cy="28093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»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2193925" y="6888163"/>
            <a:ext cx="14439900" cy="225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/>
          </p:nvPr>
        </p:nvSpPr>
        <p:spPr>
          <a:xfrm>
            <a:off x="8602663" y="23042563"/>
            <a:ext cx="26335037" cy="272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>
            <a:spLocks noGrp="1"/>
          </p:cNvSpPr>
          <p:nvPr>
            <p:ph type="pic" idx="2"/>
          </p:nvPr>
        </p:nvSpPr>
        <p:spPr>
          <a:xfrm>
            <a:off x="8602663" y="2941638"/>
            <a:ext cx="26335037" cy="1975008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8602663" y="25763538"/>
            <a:ext cx="26335037" cy="386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title"/>
          </p:nvPr>
        </p:nvSpPr>
        <p:spPr>
          <a:xfrm>
            <a:off x="960438" y="0"/>
            <a:ext cx="41924287" cy="4748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1"/>
          </p:nvPr>
        </p:nvSpPr>
        <p:spPr>
          <a:xfrm rot="5400000">
            <a:off x="8149432" y="-1816893"/>
            <a:ext cx="27279600" cy="4219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 rot="5400000">
            <a:off x="21151850" y="11185525"/>
            <a:ext cx="32918400" cy="1054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 rot="5400000">
            <a:off x="-19843" y="713582"/>
            <a:ext cx="32918400" cy="31491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tx">
  <p:cSld name="TITLE_AND_BOD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960438" y="0"/>
            <a:ext cx="41924287" cy="4748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693738" y="5638800"/>
            <a:ext cx="42190987" cy="27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BAC9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/>
          <p:nvPr/>
        </p:nvSpPr>
        <p:spPr>
          <a:xfrm>
            <a:off x="0" y="0"/>
            <a:ext cx="43891200" cy="4800600"/>
          </a:xfrm>
          <a:prstGeom prst="rect">
            <a:avLst/>
          </a:prstGeom>
          <a:solidFill>
            <a:srgbClr val="00346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2"/>
          <p:cNvSpPr/>
          <p:nvPr/>
        </p:nvSpPr>
        <p:spPr>
          <a:xfrm>
            <a:off x="693738" y="5638800"/>
            <a:ext cx="9974262" cy="265636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2"/>
          <p:cNvSpPr/>
          <p:nvPr/>
        </p:nvSpPr>
        <p:spPr>
          <a:xfrm>
            <a:off x="130628" y="4800600"/>
            <a:ext cx="43662600" cy="242887"/>
          </a:xfrm>
          <a:prstGeom prst="rect">
            <a:avLst/>
          </a:prstGeom>
          <a:solidFill>
            <a:srgbClr val="660000"/>
          </a:solidFill>
          <a:ln w="1524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2"/>
          <p:cNvSpPr/>
          <p:nvPr/>
        </p:nvSpPr>
        <p:spPr>
          <a:xfrm>
            <a:off x="609600" y="32445325"/>
            <a:ext cx="2514600" cy="354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l" rt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-US" sz="500" b="1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TEMPLATE DESIGN © 2008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6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www.PosterPresentations.com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11490325" y="5638800"/>
            <a:ext cx="9982200" cy="265636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22272625" y="5638800"/>
            <a:ext cx="9982200" cy="265636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33078738" y="5638800"/>
            <a:ext cx="9982200" cy="265636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960438" y="0"/>
            <a:ext cx="41924287" cy="4748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693738" y="5638800"/>
            <a:ext cx="42190987" cy="27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marR="0" lvl="0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»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–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–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»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»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»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»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»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BAC9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0" y="0"/>
            <a:ext cx="43891200" cy="4800600"/>
          </a:xfrm>
          <a:prstGeom prst="rect">
            <a:avLst/>
          </a:prstGeom>
          <a:solidFill>
            <a:srgbClr val="D7D7D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693738" y="5638800"/>
            <a:ext cx="42367200" cy="26563638"/>
          </a:xfrm>
          <a:prstGeom prst="rect">
            <a:avLst/>
          </a:prstGeom>
          <a:solidFill>
            <a:srgbClr val="D7D7D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0" y="4800600"/>
            <a:ext cx="43891200" cy="130175"/>
          </a:xfrm>
          <a:prstGeom prst="rect">
            <a:avLst/>
          </a:prstGeom>
          <a:solidFill>
            <a:srgbClr val="66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960438" y="0"/>
            <a:ext cx="41924287" cy="4748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00" tIns="45600" rIns="45600" bIns="456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693738" y="5638800"/>
            <a:ext cx="42190987" cy="27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400" tIns="456400" rIns="456400" bIns="456400" anchor="t" anchorCtr="0">
            <a:noAutofit/>
          </a:bodyPr>
          <a:lstStyle>
            <a:lvl1pPr marL="457200" marR="0" lvl="0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»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–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–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»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1.jpg"/><Relationship Id="rId7" Type="http://schemas.openxmlformats.org/officeDocument/2006/relationships/image" Target="../media/image4.jpe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hyperlink" Target="mailto:Victor.Govindaswamy@cuchicago.edu" TargetMode="External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B2B2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22275800" y="16023939"/>
            <a:ext cx="9989100" cy="579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 dirty="0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2: Process Highest Priority Task</a:t>
            </a:r>
            <a:endParaRPr sz="3600" i="0" u="none" strike="noStrike" cap="none" dirty="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22281800" y="5635325"/>
            <a:ext cx="9982200" cy="579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Menu Functionality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74" name="Google Shape;7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845999" y="621750"/>
            <a:ext cx="5552849" cy="39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"/>
          <p:cNvSpPr/>
          <p:nvPr/>
        </p:nvSpPr>
        <p:spPr>
          <a:xfrm>
            <a:off x="33055050" y="5635325"/>
            <a:ext cx="9989100" cy="579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Edge Case Handling (Empty Queue)</a:t>
            </a:r>
            <a:endParaRPr sz="3600" i="0" u="none" strike="noStrike" cap="none" dirty="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696409" y="6277675"/>
            <a:ext cx="9982200" cy="14908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Field: </a:t>
            </a:r>
            <a:r>
              <a:rPr lang="en-US" sz="3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This project, situated within the realm of Computer Science and Artificial Intelligence, focuses on data structure implementation and algorithmic efficiency. It utilizes a Priority Queue (Max-Heap) to solve the real-world problem of task scheduling in AI systems.</a:t>
            </a:r>
            <a:endParaRPr sz="3400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endParaRPr sz="3400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Purpose: </a:t>
            </a:r>
            <a:r>
              <a:rPr lang="en-US" sz="3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The</a:t>
            </a:r>
            <a:r>
              <a:rPr lang="en-US" sz="3400" b="1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primary of this project is to enable autonomous systems to prioritize critical tasks (e.g. safety protocols) over background tasks (e.g. data logging). This is achieved by implementing a menu-driven C++ application where tasks are assigned priority levels. The Max-Heap ensures the highest priority tasks is always processed first in (log n) time. Additionally, the program allows for viewing all pending tasks in order of importance.</a:t>
            </a:r>
            <a:endParaRPr sz="3400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endParaRPr sz="3400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Future Enhancements: </a:t>
            </a:r>
            <a:r>
              <a:rPr lang="en-US" sz="3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Future iterations of this project involve implementing a Graphical User Interface (GUI) for easier interaction, adding multithreading for concurrent task processing, and allowing dynamic updates to a task’s updates to a task’s priority while it is still in the queue.</a:t>
            </a:r>
            <a:endParaRPr lang="en-US" sz="3400" dirty="0">
              <a:solidFill>
                <a:schemeClr val="dk1"/>
              </a:solidFill>
              <a:latin typeface="Garamond"/>
              <a:sym typeface="Garamo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3200" dirty="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"/>
          <p:cNvSpPr/>
          <p:nvPr/>
        </p:nvSpPr>
        <p:spPr>
          <a:xfrm>
            <a:off x="689075" y="28843250"/>
            <a:ext cx="9982200" cy="579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 i="0" u="none" strike="noStrike" cap="none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Technolog</a:t>
            </a: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ies </a:t>
            </a:r>
            <a:r>
              <a:rPr lang="en-US" sz="3600" b="1" i="0" u="none" strike="noStrike" cap="none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Used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5899800" y="184500"/>
            <a:ext cx="30872400" cy="4955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lang="en-US" sz="7200" b="1" dirty="0">
                <a:solidFill>
                  <a:srgbClr val="FFFFFF"/>
                </a:solidFill>
                <a:latin typeface="Garamond" panose="02020404030301010803" pitchFamily="18" charset="0"/>
              </a:rPr>
              <a:t> Design and Implementation of an AI Task Priority Scheduler using a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lang="en-US" sz="7200" b="1" dirty="0">
                <a:solidFill>
                  <a:srgbClr val="FFFFFF"/>
                </a:solidFill>
                <a:latin typeface="Garamond" panose="02020404030301010803" pitchFamily="18" charset="0"/>
              </a:rPr>
              <a:t>Max-Heap</a:t>
            </a:r>
            <a:endParaRPr sz="7200" b="1" i="0" u="none" strike="noStrike" cap="none" dirty="0">
              <a:solidFill>
                <a:srgbClr val="FFFFFF"/>
              </a:solidFill>
              <a:latin typeface="Garamond" panose="02020404030301010803" pitchFamily="18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lang="en-US" sz="4300" b="1" i="0" u="none" strike="noStrike" cap="none" dirty="0">
                <a:solidFill>
                  <a:srgbClr val="FFFFFF"/>
                </a:solidFill>
                <a:latin typeface="Garamond" panose="02020404030301010803" pitchFamily="18" charset="0"/>
                <a:sym typeface="Arial"/>
              </a:rPr>
              <a:t>Raj Kumar Giri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lang="en-US" sz="4300" b="1" dirty="0">
                <a:solidFill>
                  <a:srgbClr val="FFFFFF"/>
                </a:solidFill>
                <a:latin typeface="Garamond" panose="02020404030301010803" pitchFamily="18" charset="0"/>
              </a:rPr>
              <a:t>Dr. Victor </a:t>
            </a:r>
            <a:r>
              <a:rPr lang="en-US" sz="4300" b="1" dirty="0" err="1">
                <a:solidFill>
                  <a:srgbClr val="FFFFFF"/>
                </a:solidFill>
                <a:latin typeface="Garamond" panose="02020404030301010803" pitchFamily="18" charset="0"/>
              </a:rPr>
              <a:t>Govindaswamy</a:t>
            </a:r>
            <a:endParaRPr lang="en-US" sz="4300" b="1" i="0" u="none" strike="noStrike" cap="none" dirty="0">
              <a:solidFill>
                <a:srgbClr val="FFFFFF"/>
              </a:solidFill>
              <a:latin typeface="Garamond" panose="02020404030301010803" pitchFamily="18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US" sz="3100" b="1" i="0" u="none" strike="noStrike" cap="none" dirty="0">
                <a:solidFill>
                  <a:srgbClr val="FFFFFF"/>
                </a:solidFill>
                <a:latin typeface="Garamond" panose="02020404030301010803" pitchFamily="18" charset="0"/>
                <a:sym typeface="Arial"/>
              </a:rPr>
              <a:t>Concordia University Chicago</a:t>
            </a:r>
            <a:endParaRPr sz="900" b="0" i="0" u="none" strike="noStrike" cap="none" dirty="0">
              <a:solidFill>
                <a:srgbClr val="000000"/>
              </a:solidFill>
              <a:latin typeface="Garamond" panose="02020404030301010803" pitchFamily="18" charset="0"/>
              <a:sym typeface="Arial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33041729" y="6286419"/>
            <a:ext cx="9982200" cy="270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This project uses Exception Handling (try-catch).</a:t>
            </a:r>
            <a:endParaRPr lang="en-US" sz="3400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3400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If a user tries to process a task when the queue is completely empty, the system does not crash. It catches a </a:t>
            </a:r>
            <a:r>
              <a:rPr lang="en-US" sz="3400" i="1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runtime-error</a:t>
            </a:r>
            <a:r>
              <a:rPr lang="en-US" sz="34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and alerts the user gracefully.</a:t>
            </a:r>
            <a:endParaRPr sz="3400" i="0" u="none" strike="noStrike" cap="none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22283662" y="21889963"/>
            <a:ext cx="9960000" cy="2277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Option 3 displays all tasks currently waiting in the queue. Because a heap is not fully sorted, the program copies the heap, sorts the copy, and displays the output so the user sees the tasks in order of priority.</a:t>
            </a:r>
            <a:endParaRPr sz="3400" dirty="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82" name="Google Shape;82;p1"/>
          <p:cNvSpPr/>
          <p:nvPr/>
        </p:nvSpPr>
        <p:spPr>
          <a:xfrm>
            <a:off x="11487550" y="13536455"/>
            <a:ext cx="9982200" cy="579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Priority Q</a:t>
            </a:r>
            <a:r>
              <a:rPr lang="en-US" sz="3600" b="1" dirty="0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ueue/Max-Heap</a:t>
            </a:r>
            <a:endParaRPr sz="3600" i="0" u="none" strike="noStrike" cap="none" dirty="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11535744" y="14217048"/>
            <a:ext cx="9960000" cy="646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A Priority Queue is a data structure where each element has a “priority”. Element with higher priorities are served before lower ones.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3400" dirty="0"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In this project, a Max-Heap is used. A Max-Heap is a complete binary tree where every parent node is greater than or equal to its children.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Char char="•"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Because of this, the highest priority task is always at the root (index 0).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Char char="•"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Complexity: Insertion and extraction are extremely fast O(log n), making it highly scalable for AI workloads.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</a:pPr>
            <a:endParaRPr lang="en-US" sz="3400" dirty="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84" name="Google Shape;84;p1"/>
          <p:cNvSpPr/>
          <p:nvPr/>
        </p:nvSpPr>
        <p:spPr>
          <a:xfrm>
            <a:off x="33061800" y="24596988"/>
            <a:ext cx="9982200" cy="579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Contacts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22261695" y="6235016"/>
            <a:ext cx="9960000" cy="175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In this application, users can manipulate and interact with the task list using a terminal menu. This ensures users know exactly what operations are available.</a:t>
            </a:r>
          </a:p>
        </p:txBody>
      </p:sp>
      <p:sp>
        <p:nvSpPr>
          <p:cNvPr id="88" name="Google Shape;88;p1"/>
          <p:cNvSpPr txBox="1"/>
          <p:nvPr/>
        </p:nvSpPr>
        <p:spPr>
          <a:xfrm>
            <a:off x="22307698" y="11369065"/>
            <a:ext cx="9960000" cy="2277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Option 1 allows the user to input a task name and assign it a priority from 1 to 10. The program uses cin.ignore() and getline() to properly capture task names that contain spaces.</a:t>
            </a:r>
            <a:endParaRPr sz="3400" dirty="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22283050" y="10832400"/>
            <a:ext cx="9977100" cy="579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 dirty="0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1: Add Task</a:t>
            </a:r>
            <a:endParaRPr sz="3600" i="0" u="none" strike="noStrike" cap="none" dirty="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22275375" y="21096800"/>
            <a:ext cx="9989100" cy="579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 dirty="0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3: View all Tasks</a:t>
            </a:r>
            <a:endParaRPr sz="3600" i="0" u="none" strike="noStrike" cap="none" dirty="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2352338" y="16608838"/>
            <a:ext cx="9960000" cy="2277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It allows the system to extract and process the most critical task. It removes the root node, replaces it with the last element, and triggers </a:t>
            </a:r>
            <a:r>
              <a:rPr lang="en-US" sz="3400" i="1" dirty="0">
                <a:latin typeface="Garamond"/>
                <a:ea typeface="Garamond"/>
                <a:cs typeface="Garamond"/>
                <a:sym typeface="Garamond"/>
              </a:rPr>
              <a:t>heapifyDown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 to restore the Max-Heap property.</a:t>
            </a:r>
            <a:endParaRPr sz="3400" i="0" u="none" strike="noStrike" cap="none" dirty="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2261695" y="28049704"/>
            <a:ext cx="9960000" cy="3847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Option 4 allows the user to safely and gracefully exit the scheduler. When selected, the program breaks out of the continues </a:t>
            </a:r>
            <a:r>
              <a:rPr lang="en-US" sz="3400" i="1" dirty="0">
                <a:latin typeface="Garamond"/>
                <a:ea typeface="Garamond"/>
                <a:cs typeface="Garamond"/>
                <a:sym typeface="Garamond"/>
              </a:rPr>
              <a:t>do-while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 menu loop, ensuring that all dynamic memory used by the Max-Heap vector is automatically cleared by the C++ runtime. The program then returns a 0 to the operating system, indicating a successful and clean termination of the application.</a:t>
            </a:r>
            <a:endParaRPr sz="3400" dirty="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3099701" y="25461964"/>
            <a:ext cx="9749700" cy="5940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Bioinformatics And Technology Laboratory (BAT Lab) </a:t>
            </a:r>
            <a:endParaRPr sz="3200" i="0" u="none" strike="noStrike" cap="none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Tx/>
              <a:buChar char="-"/>
            </a:pPr>
            <a:r>
              <a:rPr lang="en-US" sz="3200" b="1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Programming Application Implementation and Design (PAID)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</a:pPr>
            <a:endParaRPr sz="3200" i="0" u="none" strike="noStrike" cap="none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Computer Science Department (CSC@CUC)</a:t>
            </a:r>
            <a:endParaRPr sz="3200" i="0" u="none" strike="noStrike" cap="none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 </a:t>
            </a:r>
            <a:endParaRPr sz="2800" i="0" u="none" strike="noStrike" cap="none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Member:</a:t>
            </a:r>
            <a:r>
              <a:rPr lang="en-US" sz="32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	</a:t>
            </a:r>
            <a:r>
              <a:rPr lang="en-US" sz="32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Raj Kumar Giri</a:t>
            </a:r>
            <a:endParaRPr sz="3200" i="0" u="none" strike="noStrike" cap="none" dirty="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Advisor: 	</a:t>
            </a:r>
            <a:r>
              <a:rPr lang="en-US" sz="32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Dr Visvasuresh (Victor) Govindaswamy</a:t>
            </a:r>
            <a:endParaRPr sz="3200" i="0" u="none" strike="noStrike" cap="none" dirty="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Email:</a:t>
            </a:r>
            <a:r>
              <a:rPr lang="en-US" sz="32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	Victor.Govindaswamy@cuchicago.edu</a:t>
            </a:r>
            <a:r>
              <a:rPr lang="en-US" sz="3200" i="0" u="sng" strike="noStrike" cap="none" dirty="0">
                <a:solidFill>
                  <a:schemeClr val="hlink"/>
                </a:solidFill>
                <a:latin typeface="Garamond"/>
                <a:ea typeface="Garamond"/>
                <a:cs typeface="Garamond"/>
                <a:sym typeface="Garamond"/>
                <a:hlinkClick r:id="rId4"/>
              </a:rPr>
              <a:t> </a:t>
            </a:r>
            <a:endParaRPr sz="3200" i="0" u="none" strike="noStrike" cap="none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Address:</a:t>
            </a:r>
            <a:r>
              <a:rPr lang="en-US" sz="32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	Concordia Chicago University</a:t>
            </a:r>
            <a:br>
              <a:rPr lang="en-US" sz="32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lang="en-US" sz="32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	       	7400 Augusta Street</a:t>
            </a:r>
            <a:br>
              <a:rPr lang="en-US" sz="32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lang="en-US" sz="32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		River Forest, IL, 6030</a:t>
            </a:r>
            <a:r>
              <a:rPr lang="en-US" sz="32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  <a:r>
              <a:rPr lang="en-US" sz="32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-1499</a:t>
            </a:r>
            <a:endParaRPr sz="3200" i="0" u="none" strike="noStrike" cap="none" dirty="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33068506" y="12079696"/>
            <a:ext cx="9982200" cy="579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Complexity Analysis</a:t>
            </a:r>
            <a:endParaRPr sz="3600" i="0" u="none" strike="noStrike" cap="none" dirty="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33052844" y="12666723"/>
            <a:ext cx="9982200" cy="6370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b="1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Time Complexity: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Insert (Add Task): O(log n) – The new task “bubbles up” the tree.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Char char="•"/>
            </a:pPr>
            <a:r>
              <a:rPr lang="en-US" sz="34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Extract (Process Task): O(log n) – the root is removed and the tree “sinks down”.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Peek (View top): O(1) – Instant access.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Char char="•"/>
            </a:pPr>
            <a:endParaRPr lang="en-US" sz="3400" i="0" u="none" strike="noStrike" cap="none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</a:pPr>
            <a:r>
              <a:rPr lang="en-US" sz="3400" b="1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Space complexity: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Char char="•"/>
            </a:pPr>
            <a:r>
              <a:rPr lang="en-US" sz="34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O(n) – Memory is used proportionally to the number of tasks currently in the scheduler. We do not allocate a massive fixed array, it grows dynamically.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</a:pPr>
            <a:endParaRPr sz="3400" i="0" u="none" strike="noStrike" cap="none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33064900" y="18793814"/>
            <a:ext cx="9977100" cy="579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Code Highlight: Heapify Logic</a:t>
            </a:r>
            <a:endParaRPr sz="3600" i="0" u="none" strike="noStrike" cap="none" dirty="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33038740" y="19781619"/>
            <a:ext cx="9982200" cy="427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The core of the application relies on simple math to navigate the tree without using pointers: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Parent: </a:t>
            </a:r>
            <a:r>
              <a:rPr lang="en-US" sz="3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(index -1) /2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Char char="•"/>
            </a:pPr>
            <a:r>
              <a:rPr lang="en-US" sz="3400" b="1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Left Child: </a:t>
            </a:r>
            <a:r>
              <a:rPr lang="en-US" sz="340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(2 * index) + 1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Right Child:</a:t>
            </a:r>
            <a:r>
              <a:rPr lang="en-US" sz="3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(2 * index) + 2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</a:pPr>
            <a:endParaRPr lang="en-US" sz="3400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</a:pPr>
            <a:r>
              <a:rPr lang="en-US" sz="3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This allows the tree to be stored in a flat array/vector, saving memory and improving CPU cache performance.</a:t>
            </a:r>
          </a:p>
        </p:txBody>
      </p:sp>
      <p:pic>
        <p:nvPicPr>
          <p:cNvPr id="99" name="Google Shape;99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051" y="29739375"/>
            <a:ext cx="3119450" cy="234215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"/>
          <p:cNvSpPr/>
          <p:nvPr/>
        </p:nvSpPr>
        <p:spPr>
          <a:xfrm>
            <a:off x="686100" y="20049822"/>
            <a:ext cx="9971891" cy="579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 dirty="0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UML Organizational Chart</a:t>
            </a:r>
            <a:endParaRPr sz="3600" i="0" u="none" strike="noStrike" cap="none" dirty="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118" name="Google Shape;118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25801" y="30021282"/>
            <a:ext cx="3119450" cy="175726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"/>
          <p:cNvSpPr/>
          <p:nvPr/>
        </p:nvSpPr>
        <p:spPr>
          <a:xfrm>
            <a:off x="11484325" y="20397101"/>
            <a:ext cx="9982200" cy="579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 dirty="0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Advantages &amp; Disadvantages</a:t>
            </a:r>
            <a:endParaRPr sz="3600" i="0" u="none" strike="noStrike" cap="none" dirty="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21" name="Google Shape;121;p1"/>
          <p:cNvSpPr txBox="1"/>
          <p:nvPr/>
        </p:nvSpPr>
        <p:spPr>
          <a:xfrm>
            <a:off x="11544750" y="21154340"/>
            <a:ext cx="9960000" cy="5416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b="1" dirty="0">
                <a:latin typeface="Garamond"/>
                <a:ea typeface="Garamond"/>
                <a:cs typeface="Garamond"/>
                <a:sym typeface="Garamond"/>
              </a:rPr>
              <a:t>Advantages: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Char char="•"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Extremely fast access to the highest priority element O(1) peek.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Char char="•"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Efficient insertions and deletions O(log n).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Char char="•"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Dynamic memory allocation.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</a:pPr>
            <a:r>
              <a:rPr lang="en-US" sz="3400" b="1" dirty="0">
                <a:latin typeface="Garamond"/>
                <a:ea typeface="Garamond"/>
                <a:cs typeface="Garamond"/>
                <a:sym typeface="Garamond"/>
              </a:rPr>
              <a:t>Disadvantage: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Char char="•"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Searching for a specific task in the middle is slow O(n).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Char char="•"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Not stable (items with the same priority might not maintain FIFO order).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Char char="•"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Heapify logic is complex to code from scratch.</a:t>
            </a:r>
          </a:p>
        </p:txBody>
      </p:sp>
      <p:sp>
        <p:nvSpPr>
          <p:cNvPr id="122" name="Google Shape;122;p1"/>
          <p:cNvSpPr/>
          <p:nvPr/>
        </p:nvSpPr>
        <p:spPr>
          <a:xfrm>
            <a:off x="11483725" y="26625600"/>
            <a:ext cx="9977100" cy="579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 dirty="0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Object-Oriented Programming (OOP)</a:t>
            </a:r>
            <a:endParaRPr sz="3600" i="0" u="none" strike="noStrike" cap="none" dirty="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11498050" y="27199861"/>
            <a:ext cx="9960000" cy="4893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OOP revolves around the use of classes and objects. This project adheres to this paradigm through Encapsulation: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Char char="•"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The </a:t>
            </a:r>
            <a:r>
              <a:rPr lang="en-US" sz="3400" i="1" dirty="0">
                <a:latin typeface="Garamond"/>
                <a:ea typeface="Garamond"/>
                <a:cs typeface="Garamond"/>
                <a:sym typeface="Garamond"/>
              </a:rPr>
              <a:t>heap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 vector, </a:t>
            </a:r>
            <a:r>
              <a:rPr lang="en-US" sz="3400" i="1" dirty="0">
                <a:latin typeface="Garamond"/>
                <a:ea typeface="Garamond"/>
                <a:cs typeface="Garamond"/>
                <a:sym typeface="Garamond"/>
              </a:rPr>
              <a:t>heapifyUp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, and </a:t>
            </a:r>
            <a:r>
              <a:rPr lang="en-US" sz="3400" i="1" dirty="0">
                <a:latin typeface="Garamond"/>
                <a:ea typeface="Garamond"/>
                <a:cs typeface="Garamond"/>
                <a:sym typeface="Garamond"/>
              </a:rPr>
              <a:t>heapifyDown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 methods are kept private inside the </a:t>
            </a:r>
            <a:r>
              <a:rPr lang="en-US" sz="3400" i="1" dirty="0">
                <a:latin typeface="Garamond"/>
                <a:ea typeface="Garamond"/>
                <a:cs typeface="Garamond"/>
                <a:sym typeface="Garamond"/>
              </a:rPr>
              <a:t>TaskScheduler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 class.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Char char="•"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This prevents the user or main program from accidentally corrupting the tree structure.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Char char="•"/>
            </a:pP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The </a:t>
            </a:r>
            <a:r>
              <a:rPr lang="en-US" sz="3400" i="1" dirty="0">
                <a:latin typeface="Garamond"/>
                <a:ea typeface="Garamond"/>
                <a:cs typeface="Garamond"/>
                <a:sym typeface="Garamond"/>
              </a:rPr>
              <a:t>AITask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 is implemented as a </a:t>
            </a:r>
            <a:r>
              <a:rPr lang="en-US" sz="3400" i="1" dirty="0">
                <a:latin typeface="Garamond"/>
                <a:ea typeface="Garamond"/>
                <a:cs typeface="Garamond"/>
                <a:sym typeface="Garamond"/>
              </a:rPr>
              <a:t>struct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 to keep the task name and priority glued together as single data package, ensuring they are never separated during swaps.</a:t>
            </a:r>
            <a:endParaRPr sz="3400" dirty="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686100" y="5638875"/>
            <a:ext cx="9982200" cy="579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Abstract</a:t>
            </a:r>
            <a:endParaRPr sz="360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" name="Picture 1" descr="CSCUCV1Big.jpg">
            <a:extLst>
              <a:ext uri="{FF2B5EF4-FFF2-40B4-BE49-F238E27FC236}">
                <a16:creationId xmlns:a16="http://schemas.microsoft.com/office/drawing/2014/main" id="{187345C8-ABC2-0BF8-5280-A751B488195A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1490325" y="1771965"/>
            <a:ext cx="1849898" cy="2390475"/>
          </a:xfrm>
          <a:prstGeom prst="rect">
            <a:avLst/>
          </a:prstGeom>
        </p:spPr>
      </p:pic>
      <p:pic>
        <p:nvPicPr>
          <p:cNvPr id="3" name="Picture 2" descr="CSCUCV1Big.jpg">
            <a:extLst>
              <a:ext uri="{FF2B5EF4-FFF2-40B4-BE49-F238E27FC236}">
                <a16:creationId xmlns:a16="http://schemas.microsoft.com/office/drawing/2014/main" id="{10133330-F11B-8F00-F989-4A0B9CEB07DB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0409690" y="1771965"/>
            <a:ext cx="1849898" cy="2390475"/>
          </a:xfrm>
          <a:prstGeom prst="rect">
            <a:avLst/>
          </a:prstGeom>
        </p:spPr>
      </p:pic>
      <p:sp>
        <p:nvSpPr>
          <p:cNvPr id="4" name="Google Shape;82;p1">
            <a:extLst>
              <a:ext uri="{FF2B5EF4-FFF2-40B4-BE49-F238E27FC236}">
                <a16:creationId xmlns:a16="http://schemas.microsoft.com/office/drawing/2014/main" id="{A7067EA1-8ACC-9755-78B2-6033F072FAEC}"/>
              </a:ext>
            </a:extLst>
          </p:cNvPr>
          <p:cNvSpPr/>
          <p:nvPr/>
        </p:nvSpPr>
        <p:spPr>
          <a:xfrm>
            <a:off x="11487550" y="5638875"/>
            <a:ext cx="9982200" cy="579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 dirty="0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Further Future Work</a:t>
            </a:r>
            <a:endParaRPr sz="3600" i="0" u="none" strike="noStrike" cap="none" dirty="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7" name="Google Shape;83;p1">
            <a:extLst>
              <a:ext uri="{FF2B5EF4-FFF2-40B4-BE49-F238E27FC236}">
                <a16:creationId xmlns:a16="http://schemas.microsoft.com/office/drawing/2014/main" id="{5B56752F-5F14-67D0-E8CA-626A1DBC617B}"/>
              </a:ext>
            </a:extLst>
          </p:cNvPr>
          <p:cNvSpPr txBox="1"/>
          <p:nvPr/>
        </p:nvSpPr>
        <p:spPr>
          <a:xfrm>
            <a:off x="11478079" y="6286419"/>
            <a:ext cx="9960000" cy="7509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2900"/>
            </a:pPr>
            <a:r>
              <a:rPr lang="en-US" sz="3400" b="1" dirty="0">
                <a:latin typeface="Garamond"/>
                <a:ea typeface="Garamond"/>
                <a:cs typeface="Garamond"/>
                <a:sym typeface="Garamond"/>
              </a:rPr>
              <a:t>Persistent Storage: 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Integrating a database (like SQLite or Amazon DynamoDB) so that pending AI tasks are not lost if the system restarts.</a:t>
            </a:r>
          </a:p>
          <a:p>
            <a:pPr lvl="0">
              <a:buSzPts val="2900"/>
            </a:pPr>
            <a:endParaRPr lang="en-US" sz="3400" dirty="0">
              <a:latin typeface="Garamond"/>
              <a:ea typeface="Garamond"/>
              <a:cs typeface="Garamond"/>
              <a:sym typeface="Garamond"/>
            </a:endParaRPr>
          </a:p>
          <a:p>
            <a:pPr lvl="0">
              <a:buSzPts val="2900"/>
            </a:pPr>
            <a:r>
              <a:rPr lang="en-US" sz="3400" b="1" dirty="0">
                <a:latin typeface="Garamond"/>
                <a:ea typeface="Garamond"/>
                <a:cs typeface="Garamond"/>
                <a:sym typeface="Garamond"/>
              </a:rPr>
              <a:t>Machine Learning Integration: 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Using a Machine Learning (ML) model to automatically assign priority levels based on real-time sensor data, rather than relying on hardcoded integer inputs.</a:t>
            </a:r>
          </a:p>
          <a:p>
            <a:pPr lvl="0">
              <a:buSzPts val="2900"/>
            </a:pPr>
            <a:endParaRPr lang="en-US" sz="3400" dirty="0">
              <a:latin typeface="Garamond"/>
              <a:ea typeface="Garamond"/>
              <a:cs typeface="Garamond"/>
              <a:sym typeface="Garamond"/>
            </a:endParaRPr>
          </a:p>
          <a:p>
            <a:pPr lvl="0">
              <a:buSzPts val="2900"/>
            </a:pPr>
            <a:r>
              <a:rPr lang="en-US" sz="3400" b="1" dirty="0">
                <a:latin typeface="Garamond"/>
                <a:ea typeface="Garamond"/>
                <a:cs typeface="Garamond"/>
                <a:sym typeface="Garamond"/>
              </a:rPr>
              <a:t>Sorting Stability: </a:t>
            </a:r>
            <a:r>
              <a:rPr lang="en-US" sz="3400" dirty="0">
                <a:latin typeface="Garamond"/>
                <a:ea typeface="Garamond"/>
                <a:cs typeface="Garamond"/>
                <a:sym typeface="Garamond"/>
              </a:rPr>
              <a:t>Implementing a secondary “timestamp” check to ensure that if two tasks have the exact same priority., they are processed in the exact order they arrived First In First Out (FIFO).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3400" dirty="0"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757567-E4EA-87C8-BD3F-6E5C55B8CD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63177" y="8105750"/>
            <a:ext cx="9589317" cy="24148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6A54E7-8840-8BED-409B-775AA3733D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77031" y="13578017"/>
            <a:ext cx="9589317" cy="22900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7B546C-6B2F-B30E-7315-9665E78EC4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81990" y="18886353"/>
            <a:ext cx="9570504" cy="2090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666055F-EAD1-7CB9-97F1-53B336408F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463035" y="24261786"/>
            <a:ext cx="9622117" cy="2929010"/>
          </a:xfrm>
          <a:prstGeom prst="rect">
            <a:avLst/>
          </a:prstGeom>
        </p:spPr>
      </p:pic>
      <p:sp>
        <p:nvSpPr>
          <p:cNvPr id="19" name="Google Shape;91;p1">
            <a:extLst>
              <a:ext uri="{FF2B5EF4-FFF2-40B4-BE49-F238E27FC236}">
                <a16:creationId xmlns:a16="http://schemas.microsoft.com/office/drawing/2014/main" id="{5EC027AE-72AD-3088-F8CC-748F77E574EC}"/>
              </a:ext>
            </a:extLst>
          </p:cNvPr>
          <p:cNvSpPr/>
          <p:nvPr/>
        </p:nvSpPr>
        <p:spPr>
          <a:xfrm>
            <a:off x="22280814" y="27323443"/>
            <a:ext cx="9989100" cy="579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45600" tIns="45600" rIns="45600" bIns="45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 dirty="0">
                <a:solidFill>
                  <a:srgbClr val="F8F8F8"/>
                </a:solidFill>
                <a:latin typeface="Garamond"/>
                <a:ea typeface="Garamond"/>
                <a:cs typeface="Garamond"/>
                <a:sym typeface="Garamond"/>
              </a:rPr>
              <a:t>3: View all Tasks</a:t>
            </a:r>
            <a:endParaRPr sz="3600" i="0" u="none" strike="noStrike" cap="none" dirty="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62DB902-C543-1968-80C7-CF4DB7B2612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368374" y="9459483"/>
            <a:ext cx="9330605" cy="227751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FF5ACA9-F431-6821-83EC-A3BE80C7DC7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11925" y="21227855"/>
            <a:ext cx="7099069" cy="710363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E72DA40-B168-6C30-475C-D70B31813B2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29804" y="29970675"/>
            <a:ext cx="2100996" cy="175726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9AE6E9F-EE32-A972-5945-2A58B1D1FCF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33827" y="28613394"/>
            <a:ext cx="4573042" cy="457304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DFA5F8F-79FB-B6AB-F28F-C793EB1B745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6635" y="520150"/>
            <a:ext cx="4438965" cy="41797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Default">
  <a:themeElements>
    <a:clrScheme name="1_Default 2">
      <a:dk1>
        <a:srgbClr val="000000"/>
      </a:dk1>
      <a:lt1>
        <a:srgbClr val="AABAC9"/>
      </a:lt1>
      <a:dk2>
        <a:srgbClr val="A7A7A7"/>
      </a:dk2>
      <a:lt2>
        <a:srgbClr val="535353"/>
      </a:lt2>
      <a:accent1>
        <a:srgbClr val="D7D7D7"/>
      </a:accent1>
      <a:accent2>
        <a:srgbClr val="006BD6"/>
      </a:accent2>
      <a:accent3>
        <a:srgbClr val="D2D9E1"/>
      </a:accent3>
      <a:accent4>
        <a:srgbClr val="000000"/>
      </a:accent4>
      <a:accent5>
        <a:srgbClr val="E8E8E8"/>
      </a:accent5>
      <a:accent6>
        <a:srgbClr val="0060C2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AABAC9"/>
      </a:lt1>
      <a:dk2>
        <a:srgbClr val="A7A7A7"/>
      </a:dk2>
      <a:lt2>
        <a:srgbClr val="535353"/>
      </a:lt2>
      <a:accent1>
        <a:srgbClr val="D7D7D7"/>
      </a:accent1>
      <a:accent2>
        <a:srgbClr val="003466"/>
      </a:accent2>
      <a:accent3>
        <a:srgbClr val="D0D7DF"/>
      </a:accent3>
      <a:accent4>
        <a:srgbClr val="707070"/>
      </a:accent4>
      <a:accent5>
        <a:srgbClr val="E6E6E6"/>
      </a:accent5>
      <a:accent6>
        <a:srgbClr val="002F5C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7D7D7"/>
      </a:accent1>
      <a:accent2>
        <a:srgbClr val="003466"/>
      </a:accent2>
      <a:accent3>
        <a:srgbClr val="D0D7DF"/>
      </a:accent3>
      <a:accent4>
        <a:srgbClr val="707070"/>
      </a:accent4>
      <a:accent5>
        <a:srgbClr val="E6E6E6"/>
      </a:accent5>
      <a:accent6>
        <a:srgbClr val="002F5C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1373</TotalTime>
  <Words>1081</Words>
  <Application>Microsoft Office PowerPoint</Application>
  <PresentationFormat>Custom</PresentationFormat>
  <Paragraphs>79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Helvetica Neue</vt:lpstr>
      <vt:lpstr>Garamond</vt:lpstr>
      <vt:lpstr>Arial</vt:lpstr>
      <vt:lpstr>Times New Roman</vt:lpstr>
      <vt:lpstr>Arial Black</vt:lpstr>
      <vt:lpstr>1_Default</vt:lpstr>
      <vt:lpstr>Default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Govindaswamy, Victor</dc:creator>
  <cp:lastModifiedBy>Raj Kumar Giri</cp:lastModifiedBy>
  <cp:revision>14</cp:revision>
  <dcterms:modified xsi:type="dcterms:W3CDTF">2026-10-28T22:48:59Z</dcterms:modified>
</cp:coreProperties>
</file>